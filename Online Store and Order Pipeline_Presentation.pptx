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7" r:id="rId3"/>
    <p:sldId id="257" r:id="rId4"/>
    <p:sldId id="261" r:id="rId5"/>
    <p:sldId id="258" r:id="rId6"/>
    <p:sldId id="259" r:id="rId7"/>
    <p:sldId id="260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16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13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55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73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51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02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617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16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646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727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4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3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627AB-4FAE-1B86-1C2D-1610F36A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A0209-60FD-57F1-36A8-CC444DFD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DEC5EF9B-54E6-7335-D6C8-BD9B4795135D}"/>
              </a:ext>
            </a:extLst>
          </p:cNvPr>
          <p:cNvSpPr/>
          <p:nvPr/>
        </p:nvSpPr>
        <p:spPr>
          <a:xfrm>
            <a:off x="8092440" y="731520"/>
            <a:ext cx="3383280" cy="5212080"/>
          </a:xfrm>
          <a:prstGeom prst="roundRect">
            <a:avLst/>
          </a:prstGeom>
          <a:solidFill>
            <a:srgbClr val="19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11BF400-8E28-5CB3-D844-FCF347B07AFB}"/>
              </a:ext>
            </a:extLst>
          </p:cNvPr>
          <p:cNvSpPr/>
          <p:nvPr/>
        </p:nvSpPr>
        <p:spPr>
          <a:xfrm>
            <a:off x="8458200" y="1143000"/>
            <a:ext cx="2651760" cy="777240"/>
          </a:xfrm>
          <a:prstGeom prst="round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0FFA5F07-21DF-C54F-FB3C-D350201977DE}"/>
              </a:ext>
            </a:extLst>
          </p:cNvPr>
          <p:cNvSpPr/>
          <p:nvPr/>
        </p:nvSpPr>
        <p:spPr>
          <a:xfrm>
            <a:off x="8458200" y="2103120"/>
            <a:ext cx="2057400" cy="777240"/>
          </a:xfrm>
          <a:prstGeom prst="round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564AE532-2A52-E367-B679-F0E11E7E0665}"/>
              </a:ext>
            </a:extLst>
          </p:cNvPr>
          <p:cNvSpPr/>
          <p:nvPr/>
        </p:nvSpPr>
        <p:spPr>
          <a:xfrm>
            <a:off x="8458200" y="3063240"/>
            <a:ext cx="2468880" cy="777240"/>
          </a:xfrm>
          <a:prstGeom prst="roundRect">
            <a:avLst/>
          </a:prstGeom>
          <a:solidFill>
            <a:srgbClr val="42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BBD0378E-F430-953B-F985-4B08EFD835C7}"/>
              </a:ext>
            </a:extLst>
          </p:cNvPr>
          <p:cNvSpPr/>
          <p:nvPr/>
        </p:nvSpPr>
        <p:spPr>
          <a:xfrm>
            <a:off x="8458200" y="4023360"/>
            <a:ext cx="1645920" cy="777240"/>
          </a:xfrm>
          <a:prstGeom prst="roundRect">
            <a:avLst/>
          </a:prstGeom>
          <a:solidFill>
            <a:srgbClr val="E28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8AC26-1BCD-E037-D8E7-BEB3AFFF86C9}"/>
              </a:ext>
            </a:extLst>
          </p:cNvPr>
          <p:cNvSpPr txBox="1"/>
          <p:nvPr/>
        </p:nvSpPr>
        <p:spPr>
          <a:xfrm>
            <a:off x="685800" y="914400"/>
            <a:ext cx="6858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19273F"/>
                </a:solidFill>
                <a:latin typeface="Aptos Display"/>
              </a:defRPr>
            </a:pPr>
            <a:r>
              <a:t>Online Store</a:t>
            </a:r>
            <a:br/>
            <a:r>
              <a:t>and Order Pipeline</a:t>
            </a:r>
          </a:p>
          <a:p>
            <a:pPr>
              <a:defRPr sz="1700">
                <a:solidFill>
                  <a:srgbClr val="2C69B0"/>
                </a:solidFill>
                <a:latin typeface="Aptos"/>
              </a:defRPr>
            </a:pPr>
            <a:r>
              <a:t>Java Programming Project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97240579-FF73-4F6C-21CE-9FD97DAA9EA0}"/>
              </a:ext>
            </a:extLst>
          </p:cNvPr>
          <p:cNvSpPr/>
          <p:nvPr/>
        </p:nvSpPr>
        <p:spPr>
          <a:xfrm>
            <a:off x="685800" y="3063240"/>
            <a:ext cx="6629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D75EBE-691E-3523-6F37-B2F27E22CF91}"/>
              </a:ext>
            </a:extLst>
          </p:cNvPr>
          <p:cNvSpPr/>
          <p:nvPr/>
        </p:nvSpPr>
        <p:spPr>
          <a:xfrm>
            <a:off x="685800" y="3063240"/>
            <a:ext cx="73152" cy="2057400"/>
          </a:xfrm>
          <a:prstGeom prst="rect">
            <a:avLst/>
          </a:prstGeom>
          <a:solidFill>
            <a:srgbClr val="3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AA062B-F66D-0B70-0B41-76A71CB994A8}"/>
              </a:ext>
            </a:extLst>
          </p:cNvPr>
          <p:cNvSpPr txBox="1"/>
          <p:nvPr/>
        </p:nvSpPr>
        <p:spPr>
          <a:xfrm>
            <a:off x="914400" y="3227832"/>
            <a:ext cx="6217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273F"/>
                </a:solidFill>
                <a:latin typeface="Aptos"/>
              </a:defRPr>
            </a:pPr>
            <a:r>
              <a:t>Project Members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V. Shreyas  •  2620030213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T. Vineeth Kumar  •  2620080042</a:t>
            </a:r>
          </a:p>
          <a:p>
            <a:pPr>
              <a:spcAft>
                <a:spcPts val="500"/>
              </a:spcAft>
              <a:defRPr sz="1600">
                <a:solidFill>
                  <a:srgbClr val="2A323E"/>
                </a:solidFill>
                <a:latin typeface="Aptos"/>
              </a:defRPr>
            </a:pPr>
            <a:r>
              <a:t>G. Harshith  •  2620030136</a:t>
            </a:r>
          </a:p>
        </p:txBody>
      </p:sp>
    </p:spTree>
    <p:extLst>
      <p:ext uri="{BB962C8B-B14F-4D97-AF65-F5344CB8AC3E}">
        <p14:creationId xmlns:p14="http://schemas.microsoft.com/office/powerpoint/2010/main" val="119765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6656" y="772151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0" dirty="0">
                <a:solidFill>
                  <a:srgbClr val="141414"/>
                </a:solidFill>
                <a:latin typeface="Aptos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944880" y="1254497"/>
            <a:ext cx="914400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1377942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696969"/>
                </a:solidFill>
                <a:latin typeface="Aptos"/>
              </a:rPr>
              <a:t>A small console-based shopping cart and order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036310"/>
            <a:ext cx="5074920" cy="347472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05840" y="2674103"/>
            <a:ext cx="474573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Project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80" y="3054132"/>
            <a:ext cx="4745736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Aptos"/>
              </a:rPr>
              <a:t>The program accepts product details from the user and stores them in arrays. The user can continue adding products, creating a simple order-entry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23177"/>
            <a:ext cx="5074920" cy="347472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01384" y="2726682"/>
            <a:ext cx="474573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What it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9608" y="3193026"/>
            <a:ext cx="4745736" cy="1323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Aptos"/>
              </a:rPr>
              <a:t>• Scanner input
• Arrays for product data
• while loop for continued shopping
• for loop for array processing
• A method for item-wise cost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6518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dirty="0">
                <a:solidFill>
                  <a:srgbClr val="006699"/>
                </a:solidFill>
                <a:latin typeface="Aptos"/>
              </a:rPr>
              <a:t>Core calculation:  item cost = price × quantity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6373" y="787269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0" dirty="0">
                <a:solidFill>
                  <a:srgbClr val="141414"/>
                </a:solidFill>
                <a:latin typeface="Aptos"/>
              </a:rPr>
              <a:t>Understanding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1427349"/>
            <a:ext cx="914400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6373" y="1561461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696969"/>
                </a:solidFill>
                <a:latin typeface="Aptos"/>
              </a:rPr>
              <a:t>From user input to item-wise order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" y="2131437"/>
            <a:ext cx="3337560" cy="406908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9366" y="2854752"/>
            <a:ext cx="300837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429000"/>
            <a:ext cx="3008376" cy="1477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dirty="0">
                <a:solidFill>
                  <a:schemeClr val="bg1"/>
                </a:solidFill>
                <a:latin typeface="Aptos"/>
              </a:rPr>
              <a:t>Product name
Product price
Product quantity
Continue-shopping choice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4548" y="2191512"/>
            <a:ext cx="3337560" cy="406908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49140" y="2865612"/>
            <a:ext cx="300837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9912" y="3344148"/>
            <a:ext cx="3008376" cy="175432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dirty="0">
                <a:solidFill>
                  <a:schemeClr val="bg1"/>
                </a:solidFill>
                <a:latin typeface="Aptos"/>
              </a:rPr>
              <a:t>1. Create arrays
2. Read product data
3. Repeat when needed
4. Calculate quantity × price
5. Return the calculated costs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8914" y="2191512"/>
            <a:ext cx="3246120" cy="406908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5592" y="2865612"/>
            <a:ext cx="291693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6072" y="3344148"/>
            <a:ext cx="2916936" cy="175432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dirty="0">
                <a:solidFill>
                  <a:schemeClr val="bg1"/>
                </a:solidFill>
                <a:latin typeface="Aptos"/>
              </a:rPr>
              <a:t>Stored cart data
Prices and quantities
Item-wise cost values
The source uses a console interface.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6393426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dirty="0">
                <a:solidFill>
                  <a:srgbClr val="696969"/>
                </a:solidFill>
                <a:latin typeface="Aptos"/>
              </a:rPr>
              <a:t>Problem-solving flow:  Input  →  Processing  →  Output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6031" y="693616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0" dirty="0">
                <a:solidFill>
                  <a:srgbClr val="141414"/>
                </a:solidFill>
                <a:latin typeface="Aptos"/>
              </a:rPr>
              <a:t>CO 1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66031" y="1333696"/>
            <a:ext cx="914400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6031" y="1443425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Problem solving, Java basics, data types and operators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6031" y="1809185"/>
            <a:ext cx="5074920" cy="434340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0935" y="1898805"/>
            <a:ext cx="474573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Problem solving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215" y="2376113"/>
            <a:ext cx="4745736" cy="14003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dirty="0">
                <a:solidFill>
                  <a:schemeClr val="bg1"/>
                </a:solidFill>
                <a:latin typeface="Aptos"/>
              </a:rPr>
              <a:t>• Identify inputs and outputs
• Break the task into steps
• Represent the logic as an algorithm / flow
• Implement the solution in Java
• Test and debug the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983" y="1809185"/>
            <a:ext cx="5074920" cy="434340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4201" y="1918913"/>
            <a:ext cx="474573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Applied in this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1575" y="2284673"/>
            <a:ext cx="4745736" cy="14003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dirty="0">
                <a:solidFill>
                  <a:schemeClr val="bg1"/>
                </a:solidFill>
                <a:latin typeface="Aptos"/>
              </a:rPr>
              <a:t>• Scanner is used for keyboard input
• String stores product names and the choice
• int stores the item count
• double stores prices, quantities and costs
• * is used for price × quantity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415" y="747841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0" dirty="0">
                <a:solidFill>
                  <a:srgbClr val="141414"/>
                </a:solidFill>
                <a:latin typeface="Aptos"/>
              </a:rPr>
              <a:t>CO 2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415" y="1397064"/>
            <a:ext cx="914400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1415" y="1506793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Selection and iteration concepts used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1415" y="1872553"/>
            <a:ext cx="3337560" cy="425196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007" y="1982281"/>
            <a:ext cx="300837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while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007" y="2348041"/>
            <a:ext cx="3008376" cy="14003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dirty="0">
                <a:solidFill>
                  <a:schemeClr val="bg1"/>
                </a:solidFill>
                <a:latin typeface="Aptos"/>
              </a:rPr>
              <a:t>The main shopping process is placed inside while(true), allowing the program to keep accepting order information until the user stops.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7575" y="1872553"/>
            <a:ext cx="3337560" cy="425196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167" y="1982281"/>
            <a:ext cx="300837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for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167" y="2348041"/>
            <a:ext cx="3008376" cy="8771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dirty="0">
                <a:solidFill>
                  <a:schemeClr val="bg1"/>
                </a:solidFill>
                <a:latin typeface="Aptos"/>
              </a:rPr>
              <a:t>for loops traverse the arrays and read or process each product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63735" y="1872553"/>
            <a:ext cx="3246120" cy="425196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28327" y="1982281"/>
            <a:ext cx="291693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Control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327" y="2348041"/>
            <a:ext cx="2916936" cy="113877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dirty="0">
                <a:solidFill>
                  <a:schemeClr val="bg1"/>
                </a:solidFill>
                <a:latin typeface="Aptos"/>
              </a:rPr>
              <a:t>The project uses break to leave the shopping loop when the continue condition is not met.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415" y="6106225"/>
            <a:ext cx="103327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696969"/>
                </a:solidFill>
                <a:latin typeface="Aptos"/>
              </a:rPr>
              <a:t>CO2 connection: iteration controls repeated shopping and array processing.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1752" y="757673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0">
                <a:solidFill>
                  <a:srgbClr val="141414"/>
                </a:solidFill>
                <a:latin typeface="Aptos"/>
              </a:rPr>
              <a:t>CO 3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811752" y="1406896"/>
            <a:ext cx="914400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1752" y="1516625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696969"/>
                </a:solidFill>
                <a:latin typeface="Aptos"/>
              </a:rPr>
              <a:t>Decomposition with methods and arrays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752" y="1882385"/>
            <a:ext cx="3337560" cy="434340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6344" y="1992113"/>
            <a:ext cx="300837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344" y="2357873"/>
            <a:ext cx="3008376" cy="14003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IN" sz="1700" b="0" dirty="0" err="1">
                <a:solidFill>
                  <a:schemeClr val="bg1"/>
                </a:solidFill>
                <a:latin typeface="Aptos"/>
              </a:rPr>
              <a:t>TotalCost</a:t>
            </a:r>
            <a:r>
              <a:rPr sz="1700" b="0" dirty="0">
                <a:solidFill>
                  <a:schemeClr val="bg1"/>
                </a:solidFill>
                <a:latin typeface="Aptos"/>
              </a:rPr>
              <a:t>(...) is a separate method for calculating item-wise costs. This follows decomposition: a specific task is moved out of main().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7912" y="1882385"/>
            <a:ext cx="3337560" cy="434340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2504" y="1992113"/>
            <a:ext cx="300837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One-dimensional arrays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2504" y="2357873"/>
            <a:ext cx="3008376" cy="19236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dirty="0">
                <a:solidFill>
                  <a:schemeClr val="bg1"/>
                </a:solidFill>
                <a:latin typeface="Aptos"/>
              </a:rPr>
              <a:t>String[] cart stores product names.
double[] prices stores prices.
double[] quantity stores quantities.
double[] t stores calculated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072" y="1882385"/>
            <a:ext cx="3246120" cy="434340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08664" y="1992113"/>
            <a:ext cx="291693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Key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8664" y="2357873"/>
            <a:ext cx="2916936" cy="113877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chemeClr val="bg1"/>
                </a:solidFill>
                <a:latin typeface="Aptos"/>
              </a:rPr>
              <a:t>Methods reduce complexity and arrays group multiple values of the same data type under one variable name.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D9E63F54-0C62-060A-7DA9-255807F52658}"/>
              </a:ext>
            </a:extLst>
          </p:cNvPr>
          <p:cNvSpPr/>
          <p:nvPr/>
        </p:nvSpPr>
        <p:spPr>
          <a:xfrm>
            <a:off x="632460" y="1682791"/>
            <a:ext cx="10927080" cy="4754880"/>
          </a:xfrm>
          <a:prstGeom prst="roundRect">
            <a:avLst/>
          </a:prstGeom>
          <a:solidFill>
            <a:srgbClr val="19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7908" y="649519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0">
                <a:solidFill>
                  <a:srgbClr val="141414"/>
                </a:solidFill>
                <a:latin typeface="Aptos"/>
              </a:rPr>
              <a:t>Full Source Code — Part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87908" y="1298742"/>
            <a:ext cx="914400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7908" y="1408471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Main program and input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735" y="1819951"/>
            <a:ext cx="10454492" cy="46187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19" b="0" dirty="0">
                <a:solidFill>
                  <a:schemeClr val="bg1"/>
                </a:solidFill>
                <a:latin typeface="Consolas"/>
              </a:rPr>
              <a:t>import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java.util.Scanner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;
public class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Online_Store_And_Order_Pipline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 {
    public static void main(String[]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args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){
        Scanner input = new Scanner(System.in);
        int n = 1;
       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System.out.println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("Type your order in this order");
       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System.out.println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("product name");
       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System.out.println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("Product price");
       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System.out.println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("Product quantity");
        while (true) {
            String [] cart = new String [n];
            for(int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 =0;i&lt;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n;i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++){
                cart[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] =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input.nextLine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();
            }
            double [] prices = new double[n];
            for(int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=0;i&lt;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n;i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++){
                prices[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]=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input.nextInt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();
            }
            double [] quantity=new double [n];
            for(int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=0;i&lt;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n;i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++){
                quantity[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] =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input.nextDouble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();
            }
           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System.out.println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("Do you still want to continue: ");
           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input.nextLine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();
            String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continue_Shopping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 = 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input.nextLine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();
            if (</a:t>
            </a:r>
            <a:r>
              <a:rPr sz="919" b="0" dirty="0" err="1">
                <a:solidFill>
                  <a:schemeClr val="bg1"/>
                </a:solidFill>
                <a:latin typeface="Consolas"/>
              </a:rPr>
              <a:t>continue_Shopping</a:t>
            </a:r>
            <a:r>
              <a:rPr sz="919" b="0" dirty="0">
                <a:solidFill>
                  <a:schemeClr val="bg1"/>
                </a:solidFill>
                <a:latin typeface="Consolas"/>
              </a:rPr>
              <a:t>=="yes"){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43000" y="1823392"/>
            <a:ext cx="10058400" cy="4251960"/>
          </a:xfrm>
          <a:prstGeom prst="roundRect">
            <a:avLst>
              <a:gd name="adj" fmla="val 17823"/>
            </a:avLst>
          </a:prstGeom>
          <a:solidFill>
            <a:schemeClr val="accent1">
              <a:lumMod val="50000"/>
            </a:schemeClr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841248" y="6669712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21-09-2026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3648" y="6669712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pto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98680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0">
                <a:solidFill>
                  <a:srgbClr val="141414"/>
                </a:solidFill>
                <a:latin typeface="Aptos"/>
              </a:rPr>
              <a:t>Full Source Code —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347903"/>
            <a:ext cx="914400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57632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Loop completion and Total_Cost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2265" y="1869112"/>
            <a:ext cx="9446735" cy="39703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  <a:latin typeface="Consolas"/>
              </a:rPr>
              <a:t>                n++;
            }
            else break;
        }
    }
    static double[] </a:t>
            </a:r>
            <a:r>
              <a:rPr sz="1400" b="0" dirty="0" err="1">
                <a:solidFill>
                  <a:schemeClr val="bg1"/>
                </a:solidFill>
                <a:latin typeface="Consolas"/>
              </a:rPr>
              <a:t>Total_Cost</a:t>
            </a:r>
            <a:r>
              <a:rPr sz="1400" b="0" dirty="0">
                <a:solidFill>
                  <a:schemeClr val="bg1"/>
                </a:solidFill>
                <a:latin typeface="Consolas"/>
              </a:rPr>
              <a:t>(int n,
            double[] prices,
            double[] quantity){
        double[] t = new double[n];
        for (int </a:t>
            </a:r>
            <a:r>
              <a:rPr sz="1400" b="0" dirty="0" err="1">
                <a:solidFill>
                  <a:schemeClr val="bg1"/>
                </a:solidFill>
                <a:latin typeface="Consolas"/>
              </a:rPr>
              <a:t>i</a:t>
            </a:r>
            <a:r>
              <a:rPr sz="1400" b="0" dirty="0">
                <a:solidFill>
                  <a:schemeClr val="bg1"/>
                </a:solidFill>
                <a:latin typeface="Consolas"/>
              </a:rPr>
              <a:t> =1;i&lt;</a:t>
            </a:r>
            <a:r>
              <a:rPr sz="1400" b="0" dirty="0" err="1">
                <a:solidFill>
                  <a:schemeClr val="bg1"/>
                </a:solidFill>
                <a:latin typeface="Consolas"/>
              </a:rPr>
              <a:t>n;i</a:t>
            </a:r>
            <a:r>
              <a:rPr sz="1400" b="0" dirty="0">
                <a:solidFill>
                  <a:schemeClr val="bg1"/>
                </a:solidFill>
                <a:latin typeface="Consolas"/>
              </a:rPr>
              <a:t>++){
            t[</a:t>
            </a:r>
            <a:r>
              <a:rPr sz="1400" b="0" dirty="0" err="1">
                <a:solidFill>
                  <a:schemeClr val="bg1"/>
                </a:solidFill>
                <a:latin typeface="Consolas"/>
              </a:rPr>
              <a:t>i</a:t>
            </a:r>
            <a:r>
              <a:rPr sz="1400" b="0" dirty="0">
                <a:solidFill>
                  <a:schemeClr val="bg1"/>
                </a:solidFill>
                <a:latin typeface="Consolas"/>
              </a:rPr>
              <a:t>] = quantity[</a:t>
            </a:r>
            <a:r>
              <a:rPr sz="1400" b="0" dirty="0" err="1">
                <a:solidFill>
                  <a:schemeClr val="bg1"/>
                </a:solidFill>
                <a:latin typeface="Consolas"/>
              </a:rPr>
              <a:t>i</a:t>
            </a:r>
            <a:r>
              <a:rPr sz="1400" b="0" dirty="0">
                <a:solidFill>
                  <a:schemeClr val="bg1"/>
                </a:solidFill>
                <a:latin typeface="Consolas"/>
              </a:rPr>
              <a:t>]*prices[</a:t>
            </a:r>
            <a:r>
              <a:rPr sz="1400" b="0" dirty="0" err="1">
                <a:solidFill>
                  <a:schemeClr val="bg1"/>
                </a:solidFill>
                <a:latin typeface="Consolas"/>
              </a:rPr>
              <a:t>i</a:t>
            </a:r>
            <a:r>
              <a:rPr sz="1400" b="0" dirty="0">
                <a:solidFill>
                  <a:schemeClr val="bg1"/>
                </a:solidFill>
                <a:latin typeface="Consolas"/>
              </a:rPr>
              <a:t>];
        }
        return t;
    }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932" y="658368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21-09-2026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6332" y="658368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>
                <a:solidFill>
                  <a:srgbClr val="696969"/>
                </a:solidFill>
                <a:latin typeface="Aptos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932" y="612648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0">
                <a:solidFill>
                  <a:srgbClr val="141414"/>
                </a:solidFill>
                <a:latin typeface="Aptos"/>
              </a:rPr>
              <a:t>Outcome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3932" y="1261871"/>
            <a:ext cx="914400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3932" y="137160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What the completed project demonstrates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3932" y="1737360"/>
            <a:ext cx="3337560" cy="35661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8524" y="1847088"/>
            <a:ext cx="300837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1  Cart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24" y="2212848"/>
            <a:ext cx="3008376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dirty="0">
                <a:solidFill>
                  <a:schemeClr val="bg1"/>
                </a:solidFill>
                <a:latin typeface="Aptos"/>
              </a:rPr>
              <a:t>The user can enter product name, price and quantity through the console.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0092" y="1737360"/>
            <a:ext cx="3337560" cy="356616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4684" y="1847088"/>
            <a:ext cx="300837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2  Order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684" y="2212848"/>
            <a:ext cx="3008376" cy="1477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dirty="0">
                <a:solidFill>
                  <a:schemeClr val="bg1"/>
                </a:solidFill>
                <a:latin typeface="Aptos"/>
              </a:rPr>
              <a:t>The program repeatedly accepts shopping information and checks whether the user wants to continue.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6252" y="1737360"/>
            <a:ext cx="3246120" cy="3566160"/>
          </a:xfrm>
          <a:prstGeom prst="roundRect">
            <a:avLst/>
          </a:prstGeom>
          <a:solidFill>
            <a:schemeClr val="tx2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80844" y="1847088"/>
            <a:ext cx="2916936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3  Cost Calculation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0844" y="2212848"/>
            <a:ext cx="2916936" cy="12003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dirty="0">
                <a:solidFill>
                  <a:schemeClr val="bg1"/>
                </a:solidFill>
                <a:latin typeface="Aptos"/>
              </a:rPr>
              <a:t>A separate method is designed to calculate item-wise cost using quantity × price.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32" y="557784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06699"/>
                </a:solidFill>
                <a:latin typeface="Aptos"/>
              </a:rPr>
              <a:t>Java concepts connected to the project: Scanner • loops • arrays • methods • arithmetic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32" y="6035040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Project team: V. Shreyas  •  T. Vineeth Kumar  •  G. Harshith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BBF35-CBA5-7E0C-E9D4-3D0C40F5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571F1B-5256-A3C3-CD26-7C89D6384DDC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0D96787-38F6-CB93-A6F8-466227F85376}"/>
              </a:ext>
            </a:extLst>
          </p:cNvPr>
          <p:cNvSpPr/>
          <p:nvPr/>
        </p:nvSpPr>
        <p:spPr>
          <a:xfrm>
            <a:off x="1097280" y="1051560"/>
            <a:ext cx="10012680" cy="4983480"/>
          </a:xfrm>
          <a:prstGeom prst="roundRect">
            <a:avLst/>
          </a:prstGeom>
          <a:solidFill>
            <a:srgbClr val="19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F1EC59-DDAF-B093-2AE4-3FBC20B090DE}"/>
              </a:ext>
            </a:extLst>
          </p:cNvPr>
          <p:cNvSpPr txBox="1"/>
          <p:nvPr/>
        </p:nvSpPr>
        <p:spPr>
          <a:xfrm>
            <a:off x="1463040" y="1874519"/>
            <a:ext cx="9235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7DDF6-2344-2D1B-7A83-55B8C164182D}"/>
              </a:ext>
            </a:extLst>
          </p:cNvPr>
          <p:cNvSpPr txBox="1"/>
          <p:nvPr/>
        </p:nvSpPr>
        <p:spPr>
          <a:xfrm>
            <a:off x="1463040" y="2834640"/>
            <a:ext cx="9235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>
                <a:solidFill>
                  <a:srgbClr val="D0DCEB"/>
                </a:solidFill>
                <a:latin typeface="Aptos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D0DC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for your time and attention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2ED344-9BB0-75C9-BFD5-77319DD90B97}"/>
              </a:ext>
            </a:extLst>
          </p:cNvPr>
          <p:cNvSpPr txBox="1"/>
          <p:nvPr/>
        </p:nvSpPr>
        <p:spPr>
          <a:xfrm>
            <a:off x="1463040" y="3977639"/>
            <a:ext cx="9235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FFFFFF"/>
                </a:solidFill>
                <a:latin typeface="Apto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V. Shreyas  •  T. Vineeth Kumar  •  G. Harshith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D6E36-5F42-848D-13E0-321FE303E213}"/>
              </a:ext>
            </a:extLst>
          </p:cNvPr>
          <p:cNvSpPr txBox="1"/>
          <p:nvPr/>
        </p:nvSpPr>
        <p:spPr>
          <a:xfrm>
            <a:off x="5554686" y="4617720"/>
            <a:ext cx="10521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3AA6B9"/>
                </a:solidFill>
                <a:latin typeface="Aptos"/>
              </a:defRPr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3AA6B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klh-S-1</a:t>
            </a:r>
            <a:r>
              <a:rPr kumimoji="0" lang="en-IN" sz="1500" b="1" i="0" u="none" strike="noStrike" kern="1200" cap="none" spc="0" normalizeH="0" baseline="0" noProof="0" dirty="0">
                <a:ln>
                  <a:noFill/>
                </a:ln>
                <a:solidFill>
                  <a:srgbClr val="3AA6B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3AA6B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-1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456E20-1179-B162-DF1E-B0AA48A4B74C}"/>
              </a:ext>
            </a:extLst>
          </p:cNvPr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677180"/>
                </a:solidFill>
                <a:latin typeface="Aptos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771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Online Store and Order Pipeline   •   klh-S-15-1                                      8</a:t>
            </a:r>
          </a:p>
        </p:txBody>
      </p:sp>
    </p:spTree>
    <p:extLst>
      <p:ext uri="{BB962C8B-B14F-4D97-AF65-F5344CB8AC3E}">
        <p14:creationId xmlns:p14="http://schemas.microsoft.com/office/powerpoint/2010/main" val="3733250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976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Consolas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Shreyash Vojjala</cp:lastModifiedBy>
  <cp:revision>3</cp:revision>
  <dcterms:created xsi:type="dcterms:W3CDTF">2026-09-15T09:57:10Z</dcterms:created>
  <dcterms:modified xsi:type="dcterms:W3CDTF">2026-09-21T03:46:17Z</dcterms:modified>
</cp:coreProperties>
</file>